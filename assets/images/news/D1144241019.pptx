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Plus Jakarta Sans"/>
      <ns0:bold ns1:id="rIdFont16"/>
    </ns0:embeddedFont>
    <ns0:embeddedFont>
      <ns0:font typeface="Noto Sans TC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9e696e3d-7d29-4124-bace-475a53d62b2e.fntdata" /><ns0:Relationship Id="rIdFont17" Type="http://schemas.openxmlformats.org/officeDocument/2006/relationships/font" Target="fonts/751a1c28-742e-41ab-b893-a107578b3945.fntdata" /><ns0:Relationship Id="rIdFont18" Type="http://schemas.openxmlformats.org/officeDocument/2006/relationships/font" Target="fonts/62b018fd-a22a-437e-94d7-4dfce5d18a7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580483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239416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DD4BF"/>
                </a:solidFill>
                <a:latin typeface="Plus Jakarta Sans"/>
              </a:rPr>
              <a:t>EXECUTIVE INTELLIGENCE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63266"/>
            <a:ext cx="8701087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Noto Sans TC"/>
              </a:rPr>
              <a:t>全球 19 大區域市場動能分佈與戰略評估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942308"/>
            <a:ext cx="8096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Noto Sans TC"/>
              </a:rPr>
              <a:t>基於市場指標評分之層級診斷、地緣熱點識別與資本再配置建議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96112" y="2290762"/>
            <a:ext cx="4586287" cy="923925"/>
          </a:xfrm>
          <a:prstGeom prst="roundRect">
            <a:avLst>
              <a:gd name="adj" fmla="val 12371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96112" y="3405187"/>
            <a:ext cx="4586287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96112" y="4519612"/>
            <a:ext cx="4586287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96112" y="2290762"/>
            <a:ext cx="38100" cy="9239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96112" y="3405187"/>
            <a:ext cx="38100" cy="9239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96112" y="4519612"/>
            <a:ext cx="38100" cy="9239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76400"/>
            <a:ext cx="5929312" cy="4381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838325"/>
            <a:ext cx="5605462" cy="405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Noto Sans TC"/>
              </a:rPr>
              <a:t>DATA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資料採集架構與多維熱度圖譜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2812" y="2500312"/>
            <a:ext cx="49291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TC"/>
              </a:rPr>
              <a:t>高跨度評分區間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2812" y="2805112"/>
            <a:ext cx="4929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Noto Sans TC"/>
              </a:rPr>
              <a:t>分值橫跨 37 至 99 點，各區資源聚集程度懸殊。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2812" y="3614737"/>
            <a:ext cx="49291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TC"/>
              </a:rPr>
              <a:t>東南亞全面崛起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2812" y="3919537"/>
            <a:ext cx="4929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Noto Sans TC"/>
              </a:rPr>
              <a:t>泰國、印尼等多國高密度群聚於次高分區間。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2812" y="4729162"/>
            <a:ext cx="49291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TC"/>
              </a:rPr>
              <a:t>歐美成熟區動能趨緩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2812" y="5033962"/>
            <a:ext cx="4929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Noto Sans TC"/>
              </a:rPr>
              <a:t>美加市場維持中位評分，需開拓第二成長曲線。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28750" y="4281487"/>
            <a:ext cx="290825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41800" y="4281487"/>
            <a:ext cx="290825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54850" y="4281487"/>
            <a:ext cx="290825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Noto Sans TC"/>
              </a:rPr>
              <a:t>MARKET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台灣市場：不可撼動的戰略核心樞紐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0206" y="2357437"/>
            <a:ext cx="1589298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b="1" sz="9000" i="0" u="none">
                <a:solidFill>
                  <a:srgbClr val="0D9488"/>
                </a:solidFill>
                <a:latin typeface="Plus Jakarta Sa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4825" y="3652837"/>
            <a:ext cx="44529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TC"/>
              </a:rPr>
              <a:t>整體綜合指數首位・單極領先格局確立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8593" y="4491037"/>
            <a:ext cx="2968562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Plus Jakarta Sans"/>
              </a:rPr>
              <a:t>+39.4%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8593" y="4929187"/>
            <a:ext cx="2968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Noto Sans TC"/>
              </a:rPr>
              <a:t>相對第二名差距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1644" y="4491037"/>
            <a:ext cx="2968562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D9488"/>
                </a:solidFill>
                <a:latin typeface="Plus Jakarta Sans"/>
              </a:rPr>
              <a:t>55.1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44" y="4929187"/>
            <a:ext cx="2968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Noto Sans TC"/>
              </a:rPr>
              <a:t>全域市場平均指數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4694" y="4491037"/>
            <a:ext cx="2968562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Plus Jakarta Sans"/>
              </a:rPr>
              <a:t>2.68x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4694" y="4929187"/>
            <a:ext cx="2968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Noto Sans TC"/>
              </a:rPr>
              <a:t>對比中東末位比值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Noto Sans TC"/>
              </a:rPr>
              <a:t>TOP 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領先市場指標排位與階梯斷層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9887"/>
            <a:ext cx="3479750" cy="1914525"/>
          </a:xfrm>
          <a:prstGeom prst="roundRect">
            <a:avLst>
              <a:gd name="adj" fmla="val 597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909887"/>
            <a:ext cx="3479750" cy="1914525"/>
          </a:xfrm>
          <a:prstGeom prst="roundRect">
            <a:avLst>
              <a:gd name="adj" fmla="val 5970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09887"/>
            <a:ext cx="3479750" cy="1914525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Noto Sans TC"/>
              </a:rPr>
              <a:t>REGIONAL DISSECTION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全球三大地理板塊勢力盤點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224212"/>
            <a:ext cx="3659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D9488"/>
                </a:solidFill>
                <a:latin typeface="Noto Sans TC"/>
              </a:rPr>
              <a:t>亞太核心板塊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500437"/>
            <a:ext cx="3842081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Noto Sans TC"/>
              </a:rPr>
              <a:t>主力動能中樞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957637"/>
            <a:ext cx="3659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Noto Sans TC"/>
              </a:rPr>
              <a:t>均值表現：62.3 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281487"/>
            <a:ext cx="3659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TC"/>
              </a:rPr>
              <a:t>台灣領銜東南亞矩陣。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275" y="3224212"/>
            <a:ext cx="3659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Noto Sans TC"/>
              </a:rPr>
              <a:t>美洲雙軌板塊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275" y="3500437"/>
            <a:ext cx="3842081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Noto Sans TC"/>
              </a:rPr>
              <a:t>南強北穩格局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275" y="3957637"/>
            <a:ext cx="3659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Noto Sans TC"/>
              </a:rPr>
              <a:t>均值表現：53.0 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275" y="4281487"/>
            <a:ext cx="3659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TC"/>
              </a:rPr>
              <a:t>拉美增速超越北美成熟區。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8725" y="3224212"/>
            <a:ext cx="3659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Noto Sans TC"/>
              </a:rPr>
              <a:t>成熟與待發板塊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8725" y="3500437"/>
            <a:ext cx="381327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Noto Sans TC"/>
              </a:rPr>
              <a:t>蓄勢突破區間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8725" y="3957637"/>
            <a:ext cx="3659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Noto Sans TC"/>
              </a:rPr>
              <a:t>均值表現：38.5 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8725" y="4281487"/>
            <a:ext cx="3659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TC"/>
              </a:rPr>
              <a:t>大陸與中東處築底階段。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81350"/>
            <a:ext cx="2600325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81350"/>
            <a:ext cx="2600325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81350"/>
            <a:ext cx="2600325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81350"/>
            <a:ext cx="2600325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181350"/>
            <a:ext cx="2600325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0425" y="3181350"/>
            <a:ext cx="2600325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0" y="3181350"/>
            <a:ext cx="2600325" cy="28575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82075" y="3181350"/>
            <a:ext cx="2600325" cy="2857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Noto Sans TC"/>
              </a:rPr>
              <a:t>GROWTH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東南亞次區域矩陣微觀解讀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457575"/>
            <a:ext cx="286285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TC"/>
              </a:rPr>
              <a:t>泰國 (67)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790950"/>
            <a:ext cx="27265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D9488"/>
                </a:solidFill>
                <a:latin typeface="Noto Sans TC"/>
              </a:rPr>
              <a:t>區域頭部樞紐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4076700"/>
            <a:ext cx="27265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TC"/>
              </a:rPr>
              <a:t>市場滲透速度冠絕東協。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9975" y="3457575"/>
            <a:ext cx="286285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TC"/>
              </a:rPr>
              <a:t>印尼 (61)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9975" y="3790950"/>
            <a:ext cx="27265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D9488"/>
                </a:solidFill>
                <a:latin typeface="Noto Sans TC"/>
              </a:rPr>
              <a:t>人口紅利支撐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9975" y="4076700"/>
            <a:ext cx="27265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TC"/>
              </a:rPr>
              <a:t>基礎規模潛力巨大。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57575"/>
            <a:ext cx="286285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TC"/>
              </a:rPr>
              <a:t>馬來西亞 (56)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90950"/>
            <a:ext cx="27265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TC"/>
              </a:rPr>
              <a:t>穩健中堅支柱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76700"/>
            <a:ext cx="27265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TC"/>
              </a:rPr>
              <a:t>客單貢獻品質穩定。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1625" y="3457575"/>
            <a:ext cx="286285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TC"/>
              </a:rPr>
              <a:t>越菲 (45-48)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1625" y="3790950"/>
            <a:ext cx="27265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Noto Sans TC"/>
              </a:rPr>
              <a:t>長尾潛力梯隊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1625" y="4076700"/>
            <a:ext cx="27265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TC"/>
              </a:rPr>
              <a:t>培育基期具爆發力。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528887"/>
          <a:ext cx="10972797" cy="26765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41921"/>
                <a:gridCol w="4135635"/>
                <a:gridCol w="1344066"/>
                <a:gridCol w="1576685"/>
                <a:gridCol w="1874490"/>
              </a:tblGrid>
              <a:tr h="5353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Noto Sans TC"/>
                        </a:rPr>
                        <a:t>戰略層級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Noto Sans TC"/>
                        </a:rPr>
                        <a:t>包含市場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Noto Sans TC"/>
                        </a:rPr>
                        <a:t>指數區間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Noto Sans TC"/>
                        </a:rPr>
                        <a:t>核心定位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Noto Sans TC"/>
                        </a:rPr>
                        <a:t>資源配置權重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D9488"/>
                          </a:solidFill>
                          <a:latin typeface="Noto Sans TC"/>
                        </a:rPr>
                        <a:t>一級：核心防禦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Noto Sans TC"/>
                        </a:rPr>
                        <a:t>台灣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D9488"/>
                          </a:solidFill>
                          <a:latin typeface="Noto Sans TC"/>
                        </a:rPr>
                        <a:t>99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Noto Sans TC"/>
                        </a:rPr>
                        <a:t>利潤引擎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Noto Sans TC"/>
                        </a:rPr>
                        <a:t>45% 資源維持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Noto Sans TC"/>
                        </a:rPr>
                        <a:t>二級：高速進攻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Noto Sans TC"/>
                        </a:rPr>
                        <a:t>東南亞、泰國、巴西、印尼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Noto Sans TC"/>
                        </a:rPr>
                        <a:t>61 - 71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Noto Sans TC"/>
                        </a:rPr>
                        <a:t>增長旗艦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Noto Sans TC"/>
                        </a:rPr>
                        <a:t>35% 規模擴張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97706"/>
                          </a:solidFill>
                          <a:latin typeface="Noto Sans TC"/>
                        </a:rPr>
                        <a:t>三級：穩健價值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Noto Sans TC"/>
                        </a:rPr>
                        <a:t>阿根廷、印度、馬來西亞、美日港澳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97706"/>
                          </a:solidFill>
                          <a:latin typeface="Noto Sans TC"/>
                        </a:rPr>
                        <a:t>50 - 59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Noto Sans TC"/>
                        </a:rPr>
                        <a:t>收益基本盤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Noto Sans TC"/>
                        </a:rPr>
                        <a:t>15% 效率優化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64748B"/>
                          </a:solidFill>
                          <a:latin typeface="Noto Sans TC"/>
                        </a:rPr>
                        <a:t>四級：探索培育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Noto Sans TC"/>
                        </a:rPr>
                        <a:t>菲、越、加、大陸、中東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64748B"/>
                          </a:solidFill>
                          <a:latin typeface="Noto Sans TC"/>
                        </a:rPr>
                        <a:t>37 - 48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Noto Sans TC"/>
                        </a:rPr>
                        <a:t>戰略觀察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Noto Sans TC"/>
                        </a:rPr>
                        <a:t>5% 試點突圍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Noto Sans TC"/>
              </a:rPr>
              <a:t>STRATEGIC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各市場層級分類與配置權重矩陣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3700"/>
            <a:ext cx="3479750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933700"/>
            <a:ext cx="3479750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33700"/>
            <a:ext cx="3479750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385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32385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200" y="32385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342" y="3362325"/>
            <a:ext cx="16311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9792" y="3362325"/>
            <a:ext cx="16311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6242" y="3362325"/>
            <a:ext cx="16311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Noto Sans TC"/>
              </a:rPr>
              <a:t>ACTION PILLARS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落實戰略部署的三大執行原則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886200"/>
            <a:ext cx="386708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TC"/>
              </a:rPr>
              <a:t>鞏固超額利潤池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267200"/>
            <a:ext cx="3682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TC"/>
              </a:rPr>
              <a:t>台灣市場深化黏著壁壘。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2750" y="3886200"/>
            <a:ext cx="386708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TC"/>
              </a:rPr>
              <a:t>開拓次高分走廊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2750" y="4267200"/>
            <a:ext cx="3682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TC"/>
              </a:rPr>
              <a:t>加碼泰國巴西擴展增量。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9200" y="3886200"/>
            <a:ext cx="382279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TC"/>
              </a:rPr>
              <a:t>審視成熟市場ROI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9200" y="4267200"/>
            <a:ext cx="3682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TC"/>
              </a:rPr>
              <a:t>美加日精簡成本結構。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37385" y="2747962"/>
            <a:ext cx="271722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DD4BF"/>
                </a:solidFill>
                <a:latin typeface="Plus Jakarta Sans"/>
              </a:rPr>
              <a:t>STRATEGIC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8032" y="3071812"/>
            <a:ext cx="7475934" cy="590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450" i="0" u="none">
                <a:solidFill>
                  <a:srgbClr val="FFFFFF"/>
                </a:solidFill>
                <a:latin typeface="Noto Sans TC"/>
              </a:rPr>
              <a:t>推動市場配置・開啟決策研討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98707" y="3852862"/>
            <a:ext cx="579443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Noto Sans TC"/>
              </a:rPr>
              <a:t>後續可根據各市場 ROI 與獲客成本細項進一步深化排程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